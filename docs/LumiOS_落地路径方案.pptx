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0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326880" y="-457200"/>
            <a:ext cx="4114800" cy="4114800"/>
          </a:xfrm>
          <a:prstGeom prst="ellipse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961120" y="3657600"/>
            <a:ext cx="2743200" cy="2743200"/>
          </a:xfrm>
          <a:prstGeom prst="ellipse">
            <a:avLst/>
          </a:prstGeom>
          <a:solidFill>
            <a:srgbClr val="25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645920"/>
            <a:ext cx="9601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600" b="1">
                <a:solidFill>
                  <a:srgbClr val="FFFFFF"/>
                </a:solidFill>
                <a:latin typeface="Microsoft YaHei"/>
              </a:defRPr>
            </a:pPr>
            <a:r>
              <a:t>LumiOS 落地路径方案</a:t>
            </a:r>
          </a:p>
          <a:p>
            <a:pPr algn="ctr">
              <a:spcBef>
                <a:spcPts val="1200"/>
              </a:spcBef>
              <a:spcAft>
                <a:spcPts val="100"/>
              </a:spcAft>
              <a:defRPr sz="2200" b="1">
                <a:solidFill>
                  <a:srgbClr val="4F46E5"/>
                </a:solidFill>
                <a:latin typeface="Microsoft YaHei"/>
              </a:defRPr>
            </a:pPr>
            <a:r>
              <a:t>落地路径方案</a:t>
            </a:r>
          </a:p>
          <a:p>
            <a:pPr algn="ctr">
              <a:spcBef>
                <a:spcPts val="1600"/>
              </a:spcBef>
              <a:spcAft>
                <a:spcPts val="100"/>
              </a:spcAft>
              <a:defRPr sz="1200" b="0">
                <a:solidFill>
                  <a:srgbClr val="787890"/>
                </a:solidFill>
                <a:latin typeface="Microsoft YaHei"/>
              </a:defRPr>
            </a:pPr>
            <a:r>
              <a:t>浙江灵序科技有限公司  |  lumiai.asia  | 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0" y="3840480"/>
            <a:ext cx="3962095" cy="2286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01028"/>
                </a:solidFill>
                <a:latin typeface="Microsoft YaHei"/>
              </a:defRPr>
            </a:pPr>
            <a:r>
              <a:t>封面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60120"/>
            <a:ext cx="2743200" cy="2286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787890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234440"/>
            <a:ext cx="10881360" cy="475488"/>
          </a:xfrm>
          <a:prstGeom prst="roundRect">
            <a:avLst/>
          </a:prstGeom>
          <a:solidFill>
            <a:srgbClr val="EE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234440"/>
            <a:ext cx="45720" cy="47548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307592"/>
            <a:ext cx="10424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01028"/>
                </a:solidFill>
                <a:latin typeface="Microsoft YaHei"/>
              </a:defRPr>
            </a:pPr>
            <a:r>
              <a:t>LumiOS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801368"/>
            <a:ext cx="10881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333344"/>
                </a:solidFill>
                <a:latin typeface="Microsoft YaHei"/>
              </a:defRPr>
            </a:pPr>
            <a:r>
              <a:t>落地路径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75688"/>
            <a:ext cx="10881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333344"/>
                </a:solidFill>
                <a:latin typeface="Microsoft YaHei"/>
              </a:defRPr>
            </a:pPr>
            <a:r>
              <a:t>我们有软件。我们有路线。我们需要你看见。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350008"/>
            <a:ext cx="10881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333344"/>
                </a:solidFill>
                <a:latin typeface="Microsoft YaHei"/>
              </a:defRPr>
            </a:pPr>
            <a:r>
              <a:t>浙江灵序科技有限公司 | lumiai.asia |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624327"/>
            <a:ext cx="10881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333344"/>
                </a:solidFill>
                <a:latin typeface="Microsoft YaHei"/>
              </a:defRPr>
            </a:pPr>
            <a:r>
              <a:t>---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830568"/>
            <a:ext cx="12191695" cy="2743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01028"/>
                </a:solidFill>
                <a:latin typeface="Microsoft YaHei"/>
              </a:defRPr>
            </a:pPr>
            <a:r>
              <a:t>我们有什么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60120"/>
            <a:ext cx="2743200" cy="2286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787890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34440"/>
            <a:ext cx="10881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333344"/>
                </a:solidFill>
                <a:latin typeface="Microsoft YaHei"/>
              </a:defRPr>
            </a:pPr>
            <a:r>
              <a:t>LumiOS 不是一个 PPT 项目。桌面客户端今天就能跑。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0881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333344"/>
                </a:solidFill>
                <a:latin typeface="Microsoft YaHei"/>
              </a:defRPr>
            </a:pPr>
            <a:r>
              <a:t>**已交付的能力**：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1783080"/>
          <a:ext cx="1088136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40680"/>
                <a:gridCol w="5440680"/>
              </a:tblGrid>
              <a:tr h="27432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01028"/>
                          </a:solidFill>
                          <a:latin typeface="Microsoft YaHei"/>
                        </a:defRPr>
                      </a:pPr>
                      <a:r>
                        <a:t>能力</a:t>
                      </a:r>
                    </a:p>
                  </a:txBody>
                  <a:tcPr a:marL="73152" a:marR="73152" a:marT="36576" a:marB="36576">
                    <a:solidFill>
                      <a:srgbClr val="EEF0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01028"/>
                          </a:solidFill>
                          <a:latin typeface="Microsoft YaHei"/>
                        </a:defRPr>
                      </a:pPr>
                      <a:r>
                        <a:t>详情</a:t>
                      </a:r>
                    </a:p>
                  </a:txBody>
                  <a:tcPr a:marL="73152" a:marR="73152" a:marT="36576" a:marB="36576">
                    <a:solidFill>
                      <a:srgbClr val="EEF0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33344"/>
                          </a:solidFill>
                          <a:latin typeface="Microsoft YaHei"/>
                        </a:defRPr>
                      </a:pPr>
                      <a:r>
                        <a:t>桌面客户端</a:t>
                      </a:r>
                    </a:p>
                  </a:txBody>
                  <a:tcPr a:marL="73152" a:marR="73152" a:marT="36576" a: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33344"/>
                          </a:solidFill>
                          <a:latin typeface="Microsoft YaHei"/>
                        </a:defRPr>
                      </a:pPr>
                      <a:r>
                        <a:t>Windows Tauri + Linux，系统控制全部打通</a:t>
                      </a:r>
                    </a:p>
                  </a:txBody>
                  <a:tcPr a:marL="73152" a:marR="73152" a:marT="36576" a:marB="36576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33344"/>
                          </a:solidFill>
                          <a:latin typeface="Microsoft YaHei"/>
                        </a:defRPr>
                      </a:pPr>
                      <a:r>
                        <a:t>语音全链路</a:t>
                      </a:r>
                    </a:p>
                  </a:txBody>
                  <a:tcPr a:marL="73152" a:marR="73152" a:marT="36576" a:marB="36576">
                    <a:solidFill>
                      <a:srgbClr val="FAFA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33344"/>
                          </a:solidFill>
                          <a:latin typeface="Microsoft YaHei"/>
                        </a:defRPr>
                      </a:pPr>
                      <a:r>
                        <a:t>唤醒 → STT(Deepgram) → LLM(5 家可选) → TTS(CosyVoice 25 音色)</a:t>
                      </a:r>
                    </a:p>
                  </a:txBody>
                  <a:tcPr a:marL="73152" a:marR="73152" a:marT="36576" a:marB="36576">
                    <a:solidFill>
                      <a:srgbClr val="FAFA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33344"/>
                          </a:solidFill>
                          <a:latin typeface="Microsoft YaHei"/>
                        </a:defRPr>
                      </a:pPr>
                      <a:r>
                        <a:t>AI 记忆</a:t>
                      </a:r>
                    </a:p>
                  </a:txBody>
                  <a:tcPr a:marL="73152" a:marR="73152" a:marT="36576" a: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33344"/>
                          </a:solidFill>
                          <a:latin typeface="Microsoft YaHei"/>
                        </a:defRPr>
                      </a:pPr>
                      <a:r>
                        <a:t>关键词检索 + 置信度衰减 + LLM 提取 + 可视化面板</a:t>
                      </a:r>
                    </a:p>
                  </a:txBody>
                  <a:tcPr a:marL="73152" a:marR="73152" a:marT="36576" a:marB="36576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33344"/>
                          </a:solidFill>
                          <a:latin typeface="Microsoft YaHei"/>
                        </a:defRPr>
                      </a:pPr>
                      <a:r>
                        <a:t>AI 人格</a:t>
                      </a:r>
                    </a:p>
                  </a:txBody>
                  <a:tcPr a:marL="73152" a:marR="73152" a:marT="36576" a:marB="36576">
                    <a:solidFill>
                      <a:srgbClr val="FAFA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33344"/>
                          </a:solidFill>
                          <a:latin typeface="Microsoft YaHei"/>
                        </a:defRPr>
                      </a:pPr>
                      <a:r>
                        <a:t>4 个 preset + 自定义编辑器 + 在线人格市场 + 情绪感知引擎</a:t>
                      </a:r>
                    </a:p>
                  </a:txBody>
                  <a:tcPr a:marL="73152" a:marR="73152" a:marT="36576" a:marB="36576">
                    <a:solidFill>
                      <a:srgbClr val="FAFA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33344"/>
                          </a:solidFill>
                          <a:latin typeface="Microsoft YaHei"/>
                        </a:defRPr>
                      </a:pPr>
                      <a:r>
                        <a:t>情绪模型</a:t>
                      </a:r>
                    </a:p>
                  </a:txBody>
                  <a:tcPr a:marL="73152" a:marR="73152" a:marT="36576" a: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33344"/>
                          </a:solidFill>
                          <a:latin typeface="Microsoft YaHei"/>
                        </a:defRPr>
                      </a:pPr>
                      <a:r>
                        <a:t>语音频谱分析 + 文本情感追踪 + 行为信号识别，连续情绪状态空间</a:t>
                      </a:r>
                    </a:p>
                  </a:txBody>
                  <a:tcPr a:marL="73152" a:marR="73152" a:marT="36576" a:marB="36576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33344"/>
                          </a:solidFill>
                          <a:latin typeface="Microsoft YaHei"/>
                        </a:defRPr>
                      </a:pPr>
                      <a:r>
                        <a:t>MCP 生态</a:t>
                      </a:r>
                    </a:p>
                  </a:txBody>
                  <a:tcPr a:marL="73152" a:marR="73152" a:marT="36576" a:marB="36576">
                    <a:solidFill>
                      <a:srgbClr val="FAFA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33344"/>
                          </a:solidFill>
                          <a:latin typeface="Microsoft YaHei"/>
                        </a:defRPr>
                      </a:pPr>
                      <a:r>
                        <a:t>27 个工具，崩溃自动恢复，GitHub 直接导入</a:t>
                      </a:r>
                    </a:p>
                  </a:txBody>
                  <a:tcPr a:marL="73152" a:marR="73152" a:marT="36576" a:marB="36576">
                    <a:solidFill>
                      <a:srgbClr val="FAFA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33344"/>
                          </a:solidFill>
                          <a:latin typeface="Microsoft YaHei"/>
                        </a:defRPr>
                      </a:pPr>
                      <a:r>
                        <a:t>情绪感知</a:t>
                      </a:r>
                    </a:p>
                  </a:txBody>
                  <a:tcPr a:marL="73152" a:marR="73152" a:marT="36576" a: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33344"/>
                          </a:solidFill>
                          <a:latin typeface="Microsoft YaHei"/>
                        </a:defRPr>
                      </a:pPr>
                      <a:r>
                        <a:t>语速/用词/行为多维度实时分析，情绪波动模型连续追踪</a:t>
                      </a:r>
                    </a:p>
                  </a:txBody>
                  <a:tcPr a:marL="73152" a:marR="73152" a:marT="36576" a:marB="36576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33344"/>
                          </a:solidFill>
                          <a:latin typeface="Microsoft YaHei"/>
                        </a:defRPr>
                      </a:pPr>
                      <a:r>
                        <a:t>企业模块</a:t>
                      </a:r>
                    </a:p>
                  </a:txBody>
                  <a:tcPr a:marL="73152" a:marR="73152" a:marT="36576" a:marB="36576">
                    <a:solidFill>
                      <a:srgbClr val="FAFA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33344"/>
                          </a:solidFill>
                          <a:latin typeface="Microsoft YaHei"/>
                        </a:defRPr>
                      </a:pPr>
                      <a:r>
                        <a:t>组织角色/多域切换/成员管理（骨架已就绪）</a:t>
                      </a:r>
                    </a:p>
                  </a:txBody>
                  <a:tcPr a:marL="73152" a:marR="73152" a:marT="36576" a:marB="36576">
                    <a:solidFill>
                      <a:srgbClr val="FAFA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33344"/>
                          </a:solidFill>
                          <a:latin typeface="Microsoft YaHei"/>
                        </a:defRPr>
                      </a:pPr>
                      <a:r>
                        <a:t>配额管理</a:t>
                      </a:r>
                    </a:p>
                  </a:txBody>
                  <a:tcPr a:marL="73152" a:marR="73152" a:marT="36576" a: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33344"/>
                          </a:solidFill>
                          <a:latin typeface="Microsoft YaHei"/>
                        </a:defRPr>
                      </a:pPr>
                      <a:r>
                        <a:t>Token 实时面板 + 用量统计 + 阈值告警</a:t>
                      </a:r>
                    </a:p>
                  </a:txBody>
                  <a:tcPr a:marL="73152" a:marR="73152" a:marT="36576" a:marB="36576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33344"/>
                          </a:solidFill>
                          <a:latin typeface="Microsoft YaHei"/>
                        </a:defRPr>
                      </a:pPr>
                      <a:r>
                        <a:t>跨设备同步</a:t>
                      </a:r>
                    </a:p>
                  </a:txBody>
                  <a:tcPr a:marL="73152" a:marR="73152" a:marT="36576" a:marB="36576">
                    <a:solidFill>
                      <a:srgbClr val="FAFA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33344"/>
                          </a:solidFill>
                          <a:latin typeface="Microsoft YaHei"/>
                        </a:defRPr>
                      </a:pPr>
                      <a:r>
                        <a:t>设备注册/发现/Socket.IO 同步（基础可用）</a:t>
                      </a:r>
                    </a:p>
                  </a:txBody>
                  <a:tcPr a:marL="73152" a:marR="73152" a:marT="36576" a:marB="36576">
                    <a:solidFill>
                      <a:srgbClr val="FAFAFF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640080" y="4983480"/>
            <a:ext cx="10881360" cy="475488"/>
          </a:xfrm>
          <a:prstGeom prst="roundRect">
            <a:avLst/>
          </a:prstGeom>
          <a:solidFill>
            <a:srgbClr val="EE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4983480"/>
            <a:ext cx="45720" cy="47548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5056632"/>
            <a:ext cx="10424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01028"/>
                </a:solidFill>
                <a:latin typeface="Microsoft YaHei"/>
              </a:defRPr>
            </a:pPr>
            <a:r>
              <a:t>起点不低。现在需要两条腿走出去：企业端和组织一起长，消费端和硬件一起长。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550408"/>
            <a:ext cx="10881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333344"/>
                </a:solidFill>
                <a:latin typeface="Microsoft YaHei"/>
              </a:defRPr>
            </a:pPr>
            <a:r>
              <a:t>---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830568"/>
            <a:ext cx="12191695" cy="2743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01028"/>
                </a:solidFill>
                <a:latin typeface="Microsoft YaHei"/>
              </a:defRPr>
            </a:pPr>
            <a:r>
              <a:t>双线作战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60120"/>
            <a:ext cx="2743200" cy="2286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787890"/>
                </a:solidFill>
                <a:latin typeface="Microsoft YaHei"/>
              </a:defRPr>
            </a:pPr>
            <a: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34440"/>
            <a:ext cx="10881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333344"/>
                </a:solidFill>
                <a:latin typeface="Microsoft YaHei"/>
              </a:defRPr>
            </a:pPr>
            <a:r>
              <a:t>```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508760"/>
            <a:ext cx="10881360" cy="1353312"/>
          </a:xfrm>
          <a:prstGeom prst="roundRect">
            <a:avLst/>
          </a:prstGeom>
          <a:solidFill>
            <a:srgbClr val="F5F5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1581912"/>
            <a:ext cx="10515600" cy="1207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4F46E5"/>
                </a:solidFill>
                <a:latin typeface="Microsoft YaHei"/>
              </a:defRPr>
            </a:pPr>
            <a:r>
              <a:t>┌── ToB ────── 企业自主形成 ────── 50 企业客户 ──┐</a:t>
            </a:r>
            <a:br/>
            <a:r>
              <a:t>│                                                    │</a:t>
            </a:r>
            <a:br/>
            <a:r>
              <a:t>LumiOS ─┤                                                    ├── 社区 + 市场 → 生态飞轮</a:t>
            </a:r>
            <a:br/>
            <a:r>
              <a:t>│                                                    │</a:t>
            </a:r>
            <a:br/>
            <a:r>
              <a:t>└── ToC ────── 硬件合作 + 百万用户 ── 人格数据 ────┘</a:t>
            </a:r>
            <a:br/>
            <a:r>
              <a:t>```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944368"/>
            <a:ext cx="10881360" cy="475488"/>
          </a:xfrm>
          <a:prstGeom prst="roundRect">
            <a:avLst/>
          </a:prstGeom>
          <a:solidFill>
            <a:srgbClr val="EE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2944368"/>
            <a:ext cx="45720" cy="47548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3017520"/>
            <a:ext cx="10424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01028"/>
                </a:solidFill>
                <a:latin typeface="Microsoft YaHei"/>
              </a:defRPr>
            </a:pPr>
            <a:r>
              <a:t>两条线不是分开的。是互相喂养的。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511296"/>
            <a:ext cx="10881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333344"/>
                </a:solidFill>
                <a:latin typeface="Microsoft YaHei"/>
              </a:defRPr>
            </a:pPr>
            <a:r>
              <a:t>企业用户回家装个人版 → 同一个 Lumi 认出来。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785616"/>
            <a:ext cx="10881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333344"/>
                </a:solidFill>
                <a:latin typeface="Microsoft YaHei"/>
              </a:defRPr>
            </a:pPr>
            <a:r>
              <a:t>个人开发者写了好用的 MCP 工具 → 企业也来装。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059936"/>
            <a:ext cx="10881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333344"/>
                </a:solidFill>
                <a:latin typeface="Microsoft YaHei"/>
              </a:defRPr>
            </a:pPr>
            <a:r>
              <a:t>OEM 预装量上来 → 企业采购时"员工都已经会用了"。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334256"/>
            <a:ext cx="10881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333344"/>
                </a:solidFill>
                <a:latin typeface="Microsoft YaHei"/>
              </a:defRPr>
            </a:pPr>
            <a:r>
              <a:t>---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830568"/>
            <a:ext cx="12191695" cy="2743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01028"/>
                </a:solidFill>
                <a:latin typeface="Microsoft YaHei"/>
              </a:defRPr>
            </a:pPr>
            <a:r>
              <a:t>ToB + ToC 双线路线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60120"/>
            <a:ext cx="2743200" cy="2286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787890"/>
                </a:solidFill>
                <a:latin typeface="Microsoft YaHei"/>
              </a:defRPr>
            </a:pPr>
            <a:r>
              <a:t>5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307592"/>
            <a:ext cx="54864" cy="25603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1" y="1234440"/>
            <a:ext cx="10881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4F46E5"/>
                </a:solidFill>
                <a:latin typeface="Microsoft YaHei"/>
              </a:defRPr>
            </a:pPr>
            <a:r>
              <a:t>ToB：企业自主形成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618488"/>
            <a:ext cx="10881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333344"/>
                </a:solidFill>
                <a:latin typeface="Microsoft YaHei"/>
              </a:defRPr>
            </a:pPr>
            <a:r>
              <a:t>企业内网部署中心服务器（Docker，4 核 8G）+ 员工装桌面客户端 + MCP 对接钉钉/飞书/企业微信/OA/邮件。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892807"/>
            <a:ext cx="10881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333344"/>
                </a:solidFill>
                <a:latin typeface="Microsoft YaHei"/>
              </a:defRPr>
            </a:pPr>
            <a:r>
              <a:t>不花钱、不需要承诺、不改变现有工作模式。收入来自专业服务（项目制）：部署实施、MCP 定制开发、培训支持。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40080" y="2167127"/>
          <a:ext cx="10881360" cy="8229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7120"/>
                <a:gridCol w="3627120"/>
                <a:gridCol w="3627120"/>
              </a:tblGrid>
              <a:tr h="274319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01028"/>
                          </a:solidFill>
                          <a:latin typeface="Microsoft YaHei"/>
                        </a:defRPr>
                      </a:pPr>
                      <a:r>
                        <a:t>优先级</a:t>
                      </a:r>
                    </a:p>
                  </a:txBody>
                  <a:tcPr a:marL="73152" a:marR="73152" a:marT="36576" a:marB="36576">
                    <a:solidFill>
                      <a:srgbClr val="EEF0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01028"/>
                          </a:solidFill>
                          <a:latin typeface="Microsoft YaHei"/>
                        </a:defRPr>
                      </a:pPr>
                      <a:r>
                        <a:t>模块</a:t>
                      </a:r>
                    </a:p>
                  </a:txBody>
                  <a:tcPr a:marL="73152" a:marR="73152" a:marT="36576" a:marB="36576">
                    <a:solidFill>
                      <a:srgbClr val="EEF0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01028"/>
                          </a:solidFill>
                          <a:latin typeface="Microsoft YaHei"/>
                        </a:defRPr>
                      </a:pPr>
                      <a:r>
                        <a:t>说明</a:t>
                      </a:r>
                    </a:p>
                  </a:txBody>
                  <a:tcPr a:marL="73152" a:marR="73152" a:marT="36576" a:marB="36576">
                    <a:solidFill>
                      <a:srgbClr val="EEF0FF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33344"/>
                          </a:solidFill>
                          <a:latin typeface="Microsoft YaHei"/>
                        </a:defRPr>
                      </a:pPr>
                      <a:r>
                        <a:t>P0</a:t>
                      </a:r>
                    </a:p>
                  </a:txBody>
                  <a:tcPr a:marL="73152" a:marR="73152" a:marT="36576" a: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33344"/>
                          </a:solidFill>
                          <a:latin typeface="Microsoft YaHei"/>
                        </a:defRPr>
                      </a:pPr>
                      <a:r>
                        <a:t>中心服务器 + 企业 MCP 插件</a:t>
                      </a:r>
                    </a:p>
                  </a:txBody>
                  <a:tcPr a:marL="73152" a:marR="73152" a:marT="36576" a: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33344"/>
                          </a:solidFill>
                          <a:latin typeface="Microsoft YaHei"/>
                        </a:defRPr>
                      </a:pPr>
                      <a:r>
                        <a:t>Docker 部署、飞书优先</a:t>
                      </a:r>
                    </a:p>
                  </a:txBody>
                  <a:tcPr a:marL="73152" a:marR="73152" a:marT="36576" a:marB="36576">
                    <a:solidFill>
                      <a:srgbClr val="FFFFFF"/>
                    </a:solidFill>
                  </a:tcPr>
                </a:tc>
              </a:tr>
              <a:tr h="274321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33344"/>
                          </a:solidFill>
                          <a:latin typeface="Microsoft YaHei"/>
                        </a:defRPr>
                      </a:pPr>
                      <a:r>
                        <a:t>P1</a:t>
                      </a:r>
                    </a:p>
                  </a:txBody>
                  <a:tcPr a:marL="73152" a:marR="73152" a:marT="36576" a:marB="36576">
                    <a:solidFill>
                      <a:srgbClr val="FAFA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33344"/>
                          </a:solidFill>
                          <a:latin typeface="Microsoft YaHei"/>
                        </a:defRPr>
                      </a:pPr>
                      <a:r>
                        <a:t>工作流提取引擎 + 管理仪表盘</a:t>
                      </a:r>
                    </a:p>
                  </a:txBody>
                  <a:tcPr a:marL="73152" a:marR="73152" a:marT="36576" a:marB="36576">
                    <a:solidFill>
                      <a:srgbClr val="FAFA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33344"/>
                          </a:solidFill>
                          <a:latin typeface="Microsoft YaHei"/>
                        </a:defRPr>
                      </a:pPr>
                      <a:r>
                        <a:t>LLM 模式识别 + /admin</a:t>
                      </a:r>
                    </a:p>
                  </a:txBody>
                  <a:tcPr a:marL="73152" a:marR="73152" a:marT="36576" a:marB="36576">
                    <a:solidFill>
                      <a:srgbClr val="FAFAFF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40080" y="3172968"/>
            <a:ext cx="10881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333344"/>
                </a:solidFill>
                <a:latin typeface="Microsoft YaHei"/>
              </a:defRPr>
            </a:pPr>
            <a:r>
              <a:t>**目标**：Q3 3 家试跑 → Q4 10 家 → 2027 Q2 50 家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3520439"/>
            <a:ext cx="54864" cy="25603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1" y="3447287"/>
            <a:ext cx="10881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4F46E5"/>
                </a:solidFill>
                <a:latin typeface="Microsoft YaHei"/>
              </a:defRPr>
            </a:pPr>
            <a:r>
              <a:t>ToC：硬件合作 + 市场抽成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831335"/>
            <a:ext cx="10881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333344"/>
                </a:solidFill>
                <a:latin typeface="Microsoft YaHei"/>
              </a:defRPr>
            </a:pPr>
            <a:r>
              <a:t>桌面端免费铺量 → 手机伴侣 MVP → OEM 预装 → 硬件生态。收入来自自研硬件、OEM 分成、MCP 技能 + 人格市场抽成。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640080" y="4105655"/>
          <a:ext cx="10881360" cy="8229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7120"/>
                <a:gridCol w="3627120"/>
                <a:gridCol w="3627120"/>
              </a:tblGrid>
              <a:tr h="274319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01028"/>
                          </a:solidFill>
                          <a:latin typeface="Microsoft YaHei"/>
                        </a:defRPr>
                      </a:pPr>
                      <a:r>
                        <a:t>优先级</a:t>
                      </a:r>
                    </a:p>
                  </a:txBody>
                  <a:tcPr a:marL="73152" a:marR="73152" a:marT="36576" a:marB="36576">
                    <a:solidFill>
                      <a:srgbClr val="EEF0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01028"/>
                          </a:solidFill>
                          <a:latin typeface="Microsoft YaHei"/>
                        </a:defRPr>
                      </a:pPr>
                      <a:r>
                        <a:t>模块</a:t>
                      </a:r>
                    </a:p>
                  </a:txBody>
                  <a:tcPr a:marL="73152" a:marR="73152" a:marT="36576" a:marB="36576">
                    <a:solidFill>
                      <a:srgbClr val="EEF0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01028"/>
                          </a:solidFill>
                          <a:latin typeface="Microsoft YaHei"/>
                        </a:defRPr>
                      </a:pPr>
                      <a:r>
                        <a:t>说明</a:t>
                      </a:r>
                    </a:p>
                  </a:txBody>
                  <a:tcPr a:marL="73152" a:marR="73152" a:marT="36576" a:marB="36576">
                    <a:solidFill>
                      <a:srgbClr val="EEF0FF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33344"/>
                          </a:solidFill>
                          <a:latin typeface="Microsoft YaHei"/>
                        </a:defRPr>
                      </a:pPr>
                      <a:r>
                        <a:t>P0</a:t>
                      </a:r>
                    </a:p>
                  </a:txBody>
                  <a:tcPr a:marL="73152" a:marR="73152" a:marT="36576" a: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33344"/>
                          </a:solidFill>
                          <a:latin typeface="Microsoft YaHei"/>
                        </a:defRPr>
                      </a:pPr>
                      <a:r>
                        <a:t>OEM 安装方案 + 手机 App</a:t>
                      </a:r>
                    </a:p>
                  </a:txBody>
                  <a:tcPr a:marL="73152" a:marR="73152" a:marT="36576" a: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33344"/>
                          </a:solidFill>
                          <a:latin typeface="Microsoft YaHei"/>
                        </a:defRPr>
                      </a:pPr>
                      <a:r>
                        <a:t>静默安装 + React Native 双端</a:t>
                      </a:r>
                    </a:p>
                  </a:txBody>
                  <a:tcPr a:marL="73152" a:marR="73152" a:marT="36576" a:marB="36576">
                    <a:solidFill>
                      <a:srgbClr val="FFFFFF"/>
                    </a:solidFill>
                  </a:tcPr>
                </a:tc>
              </a:tr>
              <a:tr h="274321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33344"/>
                          </a:solidFill>
                          <a:latin typeface="Microsoft YaHei"/>
                        </a:defRPr>
                      </a:pPr>
                      <a:r>
                        <a:t>P1</a:t>
                      </a:r>
                    </a:p>
                  </a:txBody>
                  <a:tcPr a:marL="73152" a:marR="73152" a:marT="36576" a:marB="36576">
                    <a:solidFill>
                      <a:srgbClr val="FAFA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33344"/>
                          </a:solidFill>
                          <a:latin typeface="Microsoft YaHei"/>
                        </a:defRPr>
                      </a:pPr>
                      <a:r>
                        <a:t>跨设备同步 + 硬件 SDK</a:t>
                      </a:r>
                    </a:p>
                  </a:txBody>
                  <a:tcPr a:marL="73152" a:marR="73152" a:marT="36576" a:marB="36576">
                    <a:solidFill>
                      <a:srgbClr val="FAFA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33344"/>
                          </a:solidFill>
                          <a:latin typeface="Microsoft YaHei"/>
                        </a:defRPr>
                      </a:pPr>
                      <a:r>
                        <a:t>REST API + NPM 包</a:t>
                      </a:r>
                    </a:p>
                  </a:txBody>
                  <a:tcPr a:marL="73152" a:marR="73152" a:marT="36576" a:marB="36576">
                    <a:solidFill>
                      <a:srgbClr val="FAFAFF"/>
                    </a:solidFill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640080" y="5111495"/>
            <a:ext cx="10881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333344"/>
                </a:solidFill>
                <a:latin typeface="Microsoft YaHei"/>
              </a:defRPr>
            </a:pPr>
            <a:r>
              <a:t>**目标**：Q3 5,000 → Q4 50,000 → 2027 Q2 500,000 用户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385815"/>
            <a:ext cx="10881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333344"/>
                </a:solidFill>
                <a:latin typeface="Microsoft YaHei"/>
              </a:defRPr>
            </a:pPr>
            <a:r>
              <a:t>---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830568"/>
            <a:ext cx="12191695" cy="2743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01028"/>
                </a:solidFill>
                <a:latin typeface="Microsoft YaHei"/>
              </a:defRPr>
            </a:pPr>
            <a:r>
              <a:t>收入模型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60120"/>
            <a:ext cx="2743200" cy="2286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787890"/>
                </a:solidFill>
                <a:latin typeface="Microsoft YaHei"/>
              </a:defRPr>
            </a:pPr>
            <a:r>
              <a:t>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234440"/>
            <a:ext cx="10881360" cy="475488"/>
          </a:xfrm>
          <a:prstGeom prst="roundRect">
            <a:avLst/>
          </a:prstGeom>
          <a:solidFill>
            <a:srgbClr val="EE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234440"/>
            <a:ext cx="45720" cy="47548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307592"/>
            <a:ext cx="10424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01028"/>
                </a:solidFill>
                <a:latin typeface="Microsoft YaHei"/>
              </a:defRPr>
            </a:pPr>
            <a:r>
              <a:t>软件永远免费。算力赠送。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" y="1801368"/>
          <a:ext cx="1088136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7120"/>
                <a:gridCol w="3627120"/>
                <a:gridCol w="3627120"/>
              </a:tblGrid>
              <a:tr h="27432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01028"/>
                          </a:solidFill>
                          <a:latin typeface="Microsoft YaHei"/>
                        </a:defRPr>
                      </a:pPr>
                      <a:r>
                        <a:t>来源</a:t>
                      </a:r>
                    </a:p>
                  </a:txBody>
                  <a:tcPr a:marL="73152" a:marR="73152" a:marT="36576" a:marB="36576">
                    <a:solidFill>
                      <a:srgbClr val="EEF0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01028"/>
                          </a:solidFill>
                          <a:latin typeface="Microsoft YaHei"/>
                        </a:defRPr>
                      </a:pPr>
                      <a:r>
                        <a:t>模式</a:t>
                      </a:r>
                    </a:p>
                  </a:txBody>
                  <a:tcPr a:marL="73152" a:marR="73152" a:marT="36576" a:marB="36576">
                    <a:solidFill>
                      <a:srgbClr val="EEF0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01028"/>
                          </a:solidFill>
                          <a:latin typeface="Microsoft YaHei"/>
                        </a:defRPr>
                      </a:pPr>
                      <a:r>
                        <a:t>预期占比</a:t>
                      </a:r>
                    </a:p>
                  </a:txBody>
                  <a:tcPr a:marL="73152" a:marR="73152" a:marT="36576" a:marB="36576">
                    <a:solidFill>
                      <a:srgbClr val="EEF0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33344"/>
                          </a:solidFill>
                          <a:latin typeface="Microsoft YaHei"/>
                        </a:defRPr>
                      </a:pPr>
                      <a:r>
                        <a:t>硬件终端</a:t>
                      </a:r>
                    </a:p>
                  </a:txBody>
                  <a:tcPr a:marL="73152" a:marR="73152" a:marT="36576" a: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33344"/>
                          </a:solidFill>
                          <a:latin typeface="Microsoft YaHei"/>
                        </a:defRPr>
                      </a:pPr>
                      <a:r>
                        <a:t>自研售卖 + OEM 联名 + 品牌授权</a:t>
                      </a:r>
                    </a:p>
                  </a:txBody>
                  <a:tcPr a:marL="73152" a:marR="73152" a:marT="36576" a: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33344"/>
                          </a:solidFill>
                          <a:latin typeface="Microsoft YaHei"/>
                        </a:defRPr>
                      </a:pPr>
                      <a:r>
                        <a:t>55%</a:t>
                      </a:r>
                    </a:p>
                  </a:txBody>
                  <a:tcPr a:marL="73152" a:marR="73152" a:marT="36576" a:marB="36576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33344"/>
                          </a:solidFill>
                          <a:latin typeface="Microsoft YaHei"/>
                        </a:defRPr>
                      </a:pPr>
                      <a:r>
                        <a:t>专业服务</a:t>
                      </a:r>
                    </a:p>
                  </a:txBody>
                  <a:tcPr a:marL="73152" a:marR="73152" a:marT="36576" a:marB="36576">
                    <a:solidFill>
                      <a:srgbClr val="FAFA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33344"/>
                          </a:solidFill>
                          <a:latin typeface="Microsoft YaHei"/>
                        </a:defRPr>
                      </a:pPr>
                      <a:r>
                        <a:t>企业部署 + 定制开发 + 培训</a:t>
                      </a:r>
                    </a:p>
                  </a:txBody>
                  <a:tcPr a:marL="73152" a:marR="73152" a:marT="36576" a:marB="36576">
                    <a:solidFill>
                      <a:srgbClr val="FAFA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33344"/>
                          </a:solidFill>
                          <a:latin typeface="Microsoft YaHei"/>
                        </a:defRPr>
                      </a:pPr>
                      <a:r>
                        <a:t>25%</a:t>
                      </a:r>
                    </a:p>
                  </a:txBody>
                  <a:tcPr a:marL="73152" a:marR="73152" a:marT="36576" a:marB="36576">
                    <a:solidFill>
                      <a:srgbClr val="FAFA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33344"/>
                          </a:solidFill>
                          <a:latin typeface="Microsoft YaHei"/>
                        </a:defRPr>
                      </a:pPr>
                      <a:r>
                        <a:t>MCP 技能市场</a:t>
                      </a:r>
                    </a:p>
                  </a:txBody>
                  <a:tcPr a:marL="73152" a:marR="73152" a:marT="36576" a: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33344"/>
                          </a:solidFill>
                          <a:latin typeface="Microsoft YaHei"/>
                        </a:defRPr>
                      </a:pPr>
                      <a:r>
                        <a:t>平台抽成 15-30%，付费技能开发者拿 70-85%</a:t>
                      </a:r>
                    </a:p>
                  </a:txBody>
                  <a:tcPr a:marL="73152" a:marR="73152" a:marT="36576" a: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33344"/>
                          </a:solidFill>
                          <a:latin typeface="Microsoft YaHei"/>
                        </a:defRPr>
                      </a:pPr>
                      <a:r>
                        <a:t>15%</a:t>
                      </a:r>
                    </a:p>
                  </a:txBody>
                  <a:tcPr a:marL="73152" a:marR="73152" a:marT="36576" a:marB="36576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33344"/>
                          </a:solidFill>
                          <a:latin typeface="Microsoft YaHei"/>
                        </a:defRPr>
                      </a:pPr>
                      <a:r>
                        <a:t>人格市场</a:t>
                      </a:r>
                    </a:p>
                  </a:txBody>
                  <a:tcPr a:marL="73152" a:marR="73152" a:marT="36576" a:marB="36576">
                    <a:solidFill>
                      <a:srgbClr val="FAFA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33344"/>
                          </a:solidFill>
                          <a:latin typeface="Microsoft YaHei"/>
                        </a:defRPr>
                      </a:pPr>
                      <a:r>
                        <a:t>社区创作者分成</a:t>
                      </a:r>
                    </a:p>
                  </a:txBody>
                  <a:tcPr a:marL="73152" a:marR="73152" a:marT="36576" a:marB="36576">
                    <a:solidFill>
                      <a:srgbClr val="FAFA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33344"/>
                          </a:solidFill>
                          <a:latin typeface="Microsoft YaHei"/>
                        </a:defRPr>
                      </a:pPr>
                      <a:r>
                        <a:t>5%</a:t>
                      </a:r>
                    </a:p>
                  </a:txBody>
                  <a:tcPr a:marL="73152" a:marR="73152" a:marT="36576" a:marB="36576">
                    <a:solidFill>
                      <a:srgbClr val="FAFAFF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640080" y="3355848"/>
            <a:ext cx="10881360" cy="475488"/>
          </a:xfrm>
          <a:prstGeom prst="roundRect">
            <a:avLst/>
          </a:prstGeom>
          <a:solidFill>
            <a:srgbClr val="EE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3355848"/>
            <a:ext cx="45720" cy="47548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429000"/>
            <a:ext cx="10424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01028"/>
                </a:solidFill>
                <a:latin typeface="Microsoft YaHei"/>
              </a:defRPr>
            </a:pPr>
            <a:r>
              <a:t>不按人头。不收订阅。不赚算力差价。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922776"/>
            <a:ext cx="10881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333344"/>
                </a:solidFill>
                <a:latin typeface="Microsoft YaHei"/>
              </a:defRPr>
            </a:pPr>
            <a:r>
              <a:t>---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830568"/>
            <a:ext cx="12191695" cy="2743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01028"/>
                </a:solidFill>
                <a:latin typeface="Microsoft YaHei"/>
              </a:defRPr>
            </a:pPr>
            <a:r>
              <a:t>为什么我们现在能做这个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60120"/>
            <a:ext cx="2743200" cy="2286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787890"/>
                </a:solidFill>
                <a:latin typeface="Microsoft YaHei"/>
              </a:defRPr>
            </a:pPr>
            <a:r>
              <a:t>7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307592"/>
            <a:ext cx="54864" cy="25603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1" y="1234440"/>
            <a:ext cx="10881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4F46E5"/>
                </a:solidFill>
                <a:latin typeface="Microsoft YaHei"/>
              </a:defRPr>
            </a:pPr>
            <a:r>
              <a:t>时机窗口</a:t>
            </a:r>
          </a:p>
        </p:txBody>
      </p:sp>
      <p:sp>
        <p:nvSpPr>
          <p:cNvPr id="8" name="Oval 7"/>
          <p:cNvSpPr/>
          <p:nvPr/>
        </p:nvSpPr>
        <p:spPr>
          <a:xfrm>
            <a:off x="685800" y="1691640"/>
            <a:ext cx="91440" cy="91440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618488"/>
            <a:ext cx="10332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333344"/>
                </a:solidFill>
                <a:latin typeface="Microsoft YaHei"/>
              </a:defRPr>
            </a:pPr>
            <a:r>
              <a:t>**MCP 协议 2025 年底发布**：Anthropic 推动的开放标准，现在恰逢标准确立期。先发优势就是在标准形成时已经在了</a:t>
            </a:r>
          </a:p>
        </p:txBody>
      </p:sp>
      <p:sp>
        <p:nvSpPr>
          <p:cNvPr id="10" name="Oval 9"/>
          <p:cNvSpPr/>
          <p:nvPr/>
        </p:nvSpPr>
        <p:spPr>
          <a:xfrm>
            <a:off x="685800" y="1929384"/>
            <a:ext cx="91440" cy="91440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856232"/>
            <a:ext cx="10332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333344"/>
                </a:solidFill>
                <a:latin typeface="Microsoft YaHei"/>
              </a:defRPr>
            </a:pPr>
            <a:r>
              <a:t>**企业 AI 落地失败率 &gt; 90%**：Gartner 数据，企业 AI 项目失败率居高不下——市场在主动寻找不一样的方案</a:t>
            </a:r>
          </a:p>
        </p:txBody>
      </p:sp>
      <p:sp>
        <p:nvSpPr>
          <p:cNvPr id="12" name="Oval 11"/>
          <p:cNvSpPr/>
          <p:nvPr/>
        </p:nvSpPr>
        <p:spPr>
          <a:xfrm>
            <a:off x="685800" y="2167128"/>
            <a:ext cx="91440" cy="91440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093976"/>
            <a:ext cx="10332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333344"/>
                </a:solidFill>
                <a:latin typeface="Microsoft YaHei"/>
              </a:defRPr>
            </a:pPr>
            <a:r>
              <a:t>**PC OEM 急需差异化**：联想/华为/Dell 的 AI PC 战略需要一个不跟 Copilot 正面冲突的互补品——Lumi 恰好是陪伴和人格</a:t>
            </a:r>
          </a:p>
        </p:txBody>
      </p:sp>
      <p:sp>
        <p:nvSpPr>
          <p:cNvPr id="14" name="Oval 13"/>
          <p:cNvSpPr/>
          <p:nvPr/>
        </p:nvSpPr>
        <p:spPr>
          <a:xfrm>
            <a:off x="685800" y="2404872"/>
            <a:ext cx="91440" cy="91440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2331720"/>
            <a:ext cx="10332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333344"/>
                </a:solidFill>
                <a:latin typeface="Microsoft YaHei"/>
              </a:defRPr>
            </a:pPr>
            <a:r>
              <a:t>**开源 LLM 能力飞速提升**：Qwen-3、DeepSeek-V3 等中文模型能力逼近 GPT-4o，本地推理成本趋近于零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2697479"/>
            <a:ext cx="54864" cy="25603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1" y="2624327"/>
            <a:ext cx="10881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4F46E5"/>
                </a:solidFill>
                <a:latin typeface="Microsoft YaHei"/>
              </a:defRPr>
            </a:pPr>
            <a:r>
              <a:t>我们的壁垒</a:t>
            </a:r>
          </a:p>
        </p:txBody>
      </p:sp>
      <p:sp>
        <p:nvSpPr>
          <p:cNvPr id="18" name="Oval 17"/>
          <p:cNvSpPr/>
          <p:nvPr/>
        </p:nvSpPr>
        <p:spPr>
          <a:xfrm>
            <a:off x="685800" y="3081527"/>
            <a:ext cx="91440" cy="91440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3008375"/>
            <a:ext cx="10332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333344"/>
                </a:solidFill>
                <a:latin typeface="Microsoft YaHei"/>
              </a:defRPr>
            </a:pPr>
            <a:r>
              <a:t>**有一个能跑的产品**——不是 PPT，是桌面端已可用的完整软件</a:t>
            </a:r>
          </a:p>
        </p:txBody>
      </p:sp>
      <p:sp>
        <p:nvSpPr>
          <p:cNvPr id="20" name="Oval 19"/>
          <p:cNvSpPr/>
          <p:nvPr/>
        </p:nvSpPr>
        <p:spPr>
          <a:xfrm>
            <a:off x="685800" y="3319272"/>
            <a:ext cx="91440" cy="91440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3246120"/>
            <a:ext cx="10332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333344"/>
                </a:solidFill>
                <a:latin typeface="Microsoft YaHei"/>
              </a:defRPr>
            </a:pPr>
            <a:r>
              <a:t>**六个模块全通**——桌面 + 语音 + 记忆 + 人格 + 情绪 + MCP，每个都是深度集成，不是 API 拼接</a:t>
            </a:r>
          </a:p>
        </p:txBody>
      </p:sp>
      <p:sp>
        <p:nvSpPr>
          <p:cNvPr id="22" name="Oval 21"/>
          <p:cNvSpPr/>
          <p:nvPr/>
        </p:nvSpPr>
        <p:spPr>
          <a:xfrm>
            <a:off x="685800" y="3557015"/>
            <a:ext cx="91440" cy="91440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3483863"/>
            <a:ext cx="10332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333344"/>
                </a:solidFill>
                <a:latin typeface="Microsoft YaHei"/>
              </a:defRPr>
            </a:pPr>
            <a:r>
              <a:t>**核心护城河不可复制**——大模型能力趋同，但人格数据不会。用户的每一次对话、每一个情绪波动，都在让 Lumi 变得独一无二且不可迁移</a:t>
            </a:r>
          </a:p>
        </p:txBody>
      </p:sp>
      <p:sp>
        <p:nvSpPr>
          <p:cNvPr id="24" name="Oval 23"/>
          <p:cNvSpPr/>
          <p:nvPr/>
        </p:nvSpPr>
        <p:spPr>
          <a:xfrm>
            <a:off x="685800" y="3794759"/>
            <a:ext cx="91440" cy="91440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3721607"/>
            <a:ext cx="10332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333344"/>
                </a:solidFill>
                <a:latin typeface="Microsoft YaHei"/>
              </a:defRPr>
            </a:pPr>
            <a:r>
              <a:t>**开源社区已有基础**——AGPL-3.0 开源，GitHub 有自然流量和开发者认知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4014215"/>
            <a:ext cx="10881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333344"/>
                </a:solidFill>
                <a:latin typeface="Microsoft YaHei"/>
              </a:defRPr>
            </a:pPr>
            <a:r>
              <a:t>---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830568"/>
            <a:ext cx="12191695" cy="2743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01028"/>
                </a:solidFill>
                <a:latin typeface="Microsoft YaHei"/>
              </a:defRPr>
            </a:pPr>
            <a:r>
              <a:t>时间线与关键数字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60120"/>
            <a:ext cx="2743200" cy="2286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787890"/>
                </a:solidFill>
                <a:latin typeface="Microsoft YaHei"/>
              </a:defRPr>
            </a:pPr>
            <a:r>
              <a:t>8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307592"/>
            <a:ext cx="54864" cy="25603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1" y="1234440"/>
            <a:ext cx="10881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4F46E5"/>
                </a:solidFill>
                <a:latin typeface="Microsoft YaHei"/>
              </a:defRPr>
            </a:pPr>
            <a:r>
              <a:t>执行时间线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1618488"/>
          <a:ext cx="1088136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20340"/>
                <a:gridCol w="2720340"/>
                <a:gridCol w="2720340"/>
                <a:gridCol w="2720340"/>
              </a:tblGrid>
              <a:tr h="27432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01028"/>
                          </a:solidFill>
                          <a:latin typeface="Microsoft YaHei"/>
                        </a:defRPr>
                      </a:pPr>
                      <a:r>
                        <a:t>时间</a:t>
                      </a:r>
                    </a:p>
                  </a:txBody>
                  <a:tcPr a:marL="73152" a:marR="73152" a:marT="36576" a:marB="36576">
                    <a:solidFill>
                      <a:srgbClr val="EEF0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01028"/>
                          </a:solidFill>
                          <a:latin typeface="Microsoft YaHei"/>
                        </a:defRPr>
                      </a:pPr>
                      <a:r>
                        <a:t>ToB</a:t>
                      </a:r>
                    </a:p>
                  </a:txBody>
                  <a:tcPr a:marL="73152" a:marR="73152" a:marT="36576" a:marB="36576">
                    <a:solidFill>
                      <a:srgbClr val="EEF0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01028"/>
                          </a:solidFill>
                          <a:latin typeface="Microsoft YaHei"/>
                        </a:defRPr>
                      </a:pPr>
                      <a:r>
                        <a:t>ToC</a:t>
                      </a:r>
                    </a:p>
                  </a:txBody>
                  <a:tcPr a:marL="73152" a:marR="73152" a:marT="36576" a:marB="36576">
                    <a:solidFill>
                      <a:srgbClr val="EEF0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01028"/>
                          </a:solidFill>
                          <a:latin typeface="Microsoft YaHei"/>
                        </a:defRPr>
                      </a:pPr>
                      <a:r>
                        <a:t>关键数字</a:t>
                      </a:r>
                    </a:p>
                  </a:txBody>
                  <a:tcPr a:marL="73152" a:marR="73152" a:marT="36576" a:marB="36576">
                    <a:solidFill>
                      <a:srgbClr val="EEF0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33344"/>
                          </a:solidFill>
                          <a:latin typeface="Microsoft YaHei"/>
                        </a:defRPr>
                      </a:pPr>
                      <a:r>
                        <a:t>2026 Q3</a:t>
                      </a:r>
                    </a:p>
                  </a:txBody>
                  <a:tcPr a:marL="73152" a:marR="73152" a:marT="36576" a: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33344"/>
                          </a:solidFill>
                          <a:latin typeface="Microsoft YaHei"/>
                        </a:defRPr>
                      </a:pPr>
                      <a:r>
                        <a:t>中心服务器上线、3 家试跑</a:t>
                      </a:r>
                    </a:p>
                  </a:txBody>
                  <a:tcPr a:marL="73152" a:marR="73152" a:marT="36576" a: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33344"/>
                          </a:solidFill>
                          <a:latin typeface="Microsoft YaHei"/>
                        </a:defRPr>
                      </a:pPr>
                      <a:r>
                        <a:t>OEM 方案、手机 MVP</a:t>
                      </a:r>
                    </a:p>
                  </a:txBody>
                  <a:tcPr a:marL="73152" a:marR="73152" a:marT="36576" a: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33344"/>
                          </a:solidFill>
                          <a:latin typeface="Microsoft YaHei"/>
                        </a:defRPr>
                      </a:pPr>
                      <a:r>
                        <a:t>1 万用户</a:t>
                      </a:r>
                    </a:p>
                  </a:txBody>
                  <a:tcPr a:marL="73152" a:marR="73152" a:marT="36576" a:marB="36576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33344"/>
                          </a:solidFill>
                          <a:latin typeface="Microsoft YaHei"/>
                        </a:defRPr>
                      </a:pPr>
                      <a:r>
                        <a:t>2026 Q4</a:t>
                      </a:r>
                    </a:p>
                  </a:txBody>
                  <a:tcPr a:marL="73152" a:marR="73152" a:marT="36576" a:marB="36576">
                    <a:solidFill>
                      <a:srgbClr val="FAFA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33344"/>
                          </a:solidFill>
                          <a:latin typeface="Microsoft YaHei"/>
                        </a:defRPr>
                      </a:pPr>
                      <a:r>
                        <a:t>管理台 + 飞书 MCP + 10 家客户</a:t>
                      </a:r>
                    </a:p>
                  </a:txBody>
                  <a:tcPr a:marL="73152" a:marR="73152" a:marT="36576" a:marB="36576">
                    <a:solidFill>
                      <a:srgbClr val="FAFA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33344"/>
                          </a:solidFill>
                          <a:latin typeface="Microsoft YaHei"/>
                        </a:defRPr>
                      </a:pPr>
                      <a:r>
                        <a:t>硬件 SDK + 跨设备同步</a:t>
                      </a:r>
                    </a:p>
                  </a:txBody>
                  <a:tcPr a:marL="73152" a:marR="73152" a:marT="36576" a:marB="36576">
                    <a:solidFill>
                      <a:srgbClr val="FAFA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33344"/>
                          </a:solidFill>
                          <a:latin typeface="Microsoft YaHei"/>
                        </a:defRPr>
                      </a:pPr>
                      <a:r>
                        <a:t>5 万用户</a:t>
                      </a:r>
                    </a:p>
                  </a:txBody>
                  <a:tcPr a:marL="73152" a:marR="73152" a:marT="36576" a:marB="36576">
                    <a:solidFill>
                      <a:srgbClr val="FAFA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33344"/>
                          </a:solidFill>
                          <a:latin typeface="Microsoft YaHei"/>
                        </a:defRPr>
                      </a:pPr>
                      <a:r>
                        <a:t>2027 Q1</a:t>
                      </a:r>
                    </a:p>
                  </a:txBody>
                  <a:tcPr a:marL="73152" a:marR="73152" a:marT="36576" a: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33344"/>
                          </a:solidFill>
                          <a:latin typeface="Microsoft YaHei"/>
                        </a:defRPr>
                      </a:pPr>
                      <a:r>
                        <a:t>组织认知报告 + 工作流引擎</a:t>
                      </a:r>
                    </a:p>
                  </a:txBody>
                  <a:tcPr a:marL="73152" a:marR="73152" a:marT="36576" a: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33344"/>
                          </a:solidFill>
                          <a:latin typeface="Microsoft YaHei"/>
                        </a:defRPr>
                      </a:pPr>
                      <a:r>
                        <a:t>首笔 OEM + 手机正式版</a:t>
                      </a:r>
                    </a:p>
                  </a:txBody>
                  <a:tcPr a:marL="73152" a:marR="73152" a:marT="36576" a: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33344"/>
                          </a:solidFill>
                          <a:latin typeface="Microsoft YaHei"/>
                        </a:defRPr>
                      </a:pPr>
                      <a:r>
                        <a:t>10 万用户</a:t>
                      </a:r>
                    </a:p>
                  </a:txBody>
                  <a:tcPr a:marL="73152" a:marR="73152" a:marT="36576" a:marB="36576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33344"/>
                          </a:solidFill>
                          <a:latin typeface="Microsoft YaHei"/>
                        </a:defRPr>
                      </a:pPr>
                      <a:r>
                        <a:t>2027 Q2</a:t>
                      </a:r>
                    </a:p>
                  </a:txBody>
                  <a:tcPr a:marL="73152" a:marR="73152" a:marT="36576" a:marB="36576">
                    <a:solidFill>
                      <a:srgbClr val="FAFA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33344"/>
                          </a:solidFill>
                          <a:latin typeface="Microsoft YaHei"/>
                        </a:defRPr>
                      </a:pPr>
                      <a:r>
                        <a:t>自主工作流 + 50 家企业</a:t>
                      </a:r>
                    </a:p>
                  </a:txBody>
                  <a:tcPr a:marL="73152" a:marR="73152" a:marT="36576" a:marB="36576">
                    <a:solidFill>
                      <a:srgbClr val="FAFA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33344"/>
                          </a:solidFill>
                          <a:latin typeface="Microsoft YaHei"/>
                        </a:defRPr>
                      </a:pPr>
                      <a:r>
                        <a:t>MCP 市场 + 人格市场开放</a:t>
                      </a:r>
                    </a:p>
                  </a:txBody>
                  <a:tcPr a:marL="73152" a:marR="73152" a:marT="36576" a:marB="36576">
                    <a:solidFill>
                      <a:srgbClr val="FAFA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33344"/>
                          </a:solidFill>
                          <a:latin typeface="Microsoft YaHei"/>
                        </a:defRPr>
                      </a:pPr>
                      <a:r>
                        <a:t>50 万用户</a:t>
                      </a:r>
                    </a:p>
                  </a:txBody>
                  <a:tcPr a:marL="73152" a:marR="73152" a:marT="36576" a:marB="36576">
                    <a:solidFill>
                      <a:srgbClr val="FAFAFF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640080" y="3246120"/>
            <a:ext cx="54864" cy="25603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1" y="3172968"/>
            <a:ext cx="10881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4F46E5"/>
                </a:solidFill>
                <a:latin typeface="Microsoft YaHei"/>
              </a:defRPr>
            </a:pPr>
            <a:r>
              <a:t>关键数字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40080" y="3557015"/>
          <a:ext cx="1088136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20340"/>
                <a:gridCol w="2720340"/>
                <a:gridCol w="2720340"/>
                <a:gridCol w="2720340"/>
              </a:tblGrid>
              <a:tr h="27432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01028"/>
                          </a:solidFill>
                          <a:latin typeface="Microsoft YaHei"/>
                        </a:defRPr>
                      </a:pPr>
                      <a:r>
                        <a:t>指标</a:t>
                      </a:r>
                    </a:p>
                  </a:txBody>
                  <a:tcPr a:marL="73152" a:marR="73152" a:marT="36576" a:marB="36576">
                    <a:solidFill>
                      <a:srgbClr val="EEF0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01028"/>
                          </a:solidFill>
                          <a:latin typeface="Microsoft YaHei"/>
                        </a:defRPr>
                      </a:pPr>
                      <a:r>
                        <a:t>Q3 2026</a:t>
                      </a:r>
                    </a:p>
                  </a:txBody>
                  <a:tcPr a:marL="73152" a:marR="73152" a:marT="36576" a:marB="36576">
                    <a:solidFill>
                      <a:srgbClr val="EEF0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01028"/>
                          </a:solidFill>
                          <a:latin typeface="Microsoft YaHei"/>
                        </a:defRPr>
                      </a:pPr>
                      <a:r>
                        <a:t>Q4 2026</a:t>
                      </a:r>
                    </a:p>
                  </a:txBody>
                  <a:tcPr a:marL="73152" a:marR="73152" a:marT="36576" a:marB="36576">
                    <a:solidFill>
                      <a:srgbClr val="EEF0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01028"/>
                          </a:solidFill>
                          <a:latin typeface="Microsoft YaHei"/>
                        </a:defRPr>
                      </a:pPr>
                      <a:r>
                        <a:t>Q2 2027</a:t>
                      </a:r>
                    </a:p>
                  </a:txBody>
                  <a:tcPr a:marL="73152" a:marR="73152" a:marT="36576" a:marB="36576">
                    <a:solidFill>
                      <a:srgbClr val="EEF0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33344"/>
                          </a:solidFill>
                          <a:latin typeface="Microsoft YaHei"/>
                        </a:defRPr>
                      </a:pPr>
                      <a:r>
                        <a:t>企业客户</a:t>
                      </a:r>
                    </a:p>
                  </a:txBody>
                  <a:tcPr a:marL="73152" a:marR="73152" a:marT="36576" a: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33344"/>
                          </a:solidFill>
                          <a:latin typeface="Microsoft YaHei"/>
                        </a:defRPr>
                      </a:pPr>
                      <a:r>
                        <a:t>3 家试跑</a:t>
                      </a:r>
                    </a:p>
                  </a:txBody>
                  <a:tcPr a:marL="73152" a:marR="73152" a:marT="36576" a: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33344"/>
                          </a:solidFill>
                          <a:latin typeface="Microsoft YaHei"/>
                        </a:defRPr>
                      </a:pPr>
                      <a:r>
                        <a:t>10 家</a:t>
                      </a:r>
                    </a:p>
                  </a:txBody>
                  <a:tcPr a:marL="73152" a:marR="73152" a:marT="36576" a: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33344"/>
                          </a:solidFill>
                          <a:latin typeface="Microsoft YaHei"/>
                        </a:defRPr>
                      </a:pPr>
                      <a:r>
                        <a:t>50 家</a:t>
                      </a:r>
                    </a:p>
                  </a:txBody>
                  <a:tcPr a:marL="73152" a:marR="73152" a:marT="36576" a:marB="36576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33344"/>
                          </a:solidFill>
                          <a:latin typeface="Microsoft YaHei"/>
                        </a:defRPr>
                      </a:pPr>
                      <a:r>
                        <a:t>C 端用户</a:t>
                      </a:r>
                    </a:p>
                  </a:txBody>
                  <a:tcPr a:marL="73152" a:marR="73152" a:marT="36576" a:marB="36576">
                    <a:solidFill>
                      <a:srgbClr val="FAFA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33344"/>
                          </a:solidFill>
                          <a:latin typeface="Microsoft YaHei"/>
                        </a:defRPr>
                      </a:pPr>
                      <a:r>
                        <a:t>5,000</a:t>
                      </a:r>
                    </a:p>
                  </a:txBody>
                  <a:tcPr a:marL="73152" a:marR="73152" a:marT="36576" a:marB="36576">
                    <a:solidFill>
                      <a:srgbClr val="FAFA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33344"/>
                          </a:solidFill>
                          <a:latin typeface="Microsoft YaHei"/>
                        </a:defRPr>
                      </a:pPr>
                      <a:r>
                        <a:t>50,000</a:t>
                      </a:r>
                    </a:p>
                  </a:txBody>
                  <a:tcPr a:marL="73152" a:marR="73152" a:marT="36576" a:marB="36576">
                    <a:solidFill>
                      <a:srgbClr val="FAFA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33344"/>
                          </a:solidFill>
                          <a:latin typeface="Microsoft YaHei"/>
                        </a:defRPr>
                      </a:pPr>
                      <a:r>
                        <a:t>500,000</a:t>
                      </a:r>
                    </a:p>
                  </a:txBody>
                  <a:tcPr a:marL="73152" a:marR="73152" a:marT="36576" a:marB="36576">
                    <a:solidFill>
                      <a:srgbClr val="FAFA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33344"/>
                          </a:solidFill>
                          <a:latin typeface="Microsoft YaHei"/>
                        </a:defRPr>
                      </a:pPr>
                      <a:r>
                        <a:t>日活率</a:t>
                      </a:r>
                    </a:p>
                  </a:txBody>
                  <a:tcPr a:marL="73152" a:marR="73152" a:marT="36576" a: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33344"/>
                          </a:solidFill>
                          <a:latin typeface="Microsoft YaHei"/>
                        </a:defRPr>
                      </a:pPr>
                      <a:r>
                        <a:t>—</a:t>
                      </a:r>
                    </a:p>
                  </a:txBody>
                  <a:tcPr a:marL="73152" a:marR="73152" a:marT="36576" a: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33344"/>
                          </a:solidFill>
                          <a:latin typeface="Microsoft YaHei"/>
                        </a:defRPr>
                      </a:pPr>
                      <a:r>
                        <a:t>&gt; 25%</a:t>
                      </a:r>
                    </a:p>
                  </a:txBody>
                  <a:tcPr a:marL="73152" a:marR="73152" a:marT="36576" a: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33344"/>
                          </a:solidFill>
                          <a:latin typeface="Microsoft YaHei"/>
                        </a:defRPr>
                      </a:pPr>
                      <a:r>
                        <a:t>&gt; 30%</a:t>
                      </a:r>
                    </a:p>
                  </a:txBody>
                  <a:tcPr a:marL="73152" a:marR="73152" a:marT="36576" a:marB="36576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33344"/>
                          </a:solidFill>
                          <a:latin typeface="Microsoft YaHei"/>
                        </a:defRPr>
                      </a:pPr>
                      <a:r>
                        <a:t>MCP 技能数</a:t>
                      </a:r>
                    </a:p>
                  </a:txBody>
                  <a:tcPr a:marL="73152" a:marR="73152" a:marT="36576" a:marB="36576">
                    <a:solidFill>
                      <a:srgbClr val="FAFA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33344"/>
                          </a:solidFill>
                          <a:latin typeface="Microsoft YaHei"/>
                        </a:defRPr>
                      </a:pPr>
                      <a:r>
                        <a:t>50</a:t>
                      </a:r>
                    </a:p>
                  </a:txBody>
                  <a:tcPr a:marL="73152" a:marR="73152" a:marT="36576" a:marB="36576">
                    <a:solidFill>
                      <a:srgbClr val="FAFA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33344"/>
                          </a:solidFill>
                          <a:latin typeface="Microsoft YaHei"/>
                        </a:defRPr>
                      </a:pPr>
                      <a:r>
                        <a:t>150</a:t>
                      </a:r>
                    </a:p>
                  </a:txBody>
                  <a:tcPr a:marL="73152" a:marR="73152" a:marT="36576" a:marB="36576">
                    <a:solidFill>
                      <a:srgbClr val="FAFA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33344"/>
                          </a:solidFill>
                          <a:latin typeface="Microsoft YaHei"/>
                        </a:defRPr>
                      </a:pPr>
                      <a:r>
                        <a:t>1,000</a:t>
                      </a:r>
                    </a:p>
                  </a:txBody>
                  <a:tcPr a:marL="73152" a:marR="73152" a:marT="36576" a:marB="36576">
                    <a:solidFill>
                      <a:srgbClr val="FAFA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33344"/>
                          </a:solidFill>
                          <a:latin typeface="Microsoft YaHei"/>
                        </a:defRPr>
                      </a:pPr>
                      <a:r>
                        <a:t>OEM 合作</a:t>
                      </a:r>
                    </a:p>
                  </a:txBody>
                  <a:tcPr a:marL="73152" a:marR="73152" a:marT="36576" a: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33344"/>
                          </a:solidFill>
                          <a:latin typeface="Microsoft YaHei"/>
                        </a:defRPr>
                      </a:pPr>
                      <a:r>
                        <a:t>洽谈中</a:t>
                      </a:r>
                    </a:p>
                  </a:txBody>
                  <a:tcPr a:marL="73152" a:marR="73152" a:marT="36576" a: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33344"/>
                          </a:solidFill>
                          <a:latin typeface="Microsoft YaHei"/>
                        </a:defRPr>
                      </a:pPr>
                      <a:r>
                        <a:t>1 家确认</a:t>
                      </a:r>
                    </a:p>
                  </a:txBody>
                  <a:tcPr a:marL="73152" a:marR="73152" a:marT="36576" a: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33344"/>
                          </a:solidFill>
                          <a:latin typeface="Microsoft YaHei"/>
                        </a:defRPr>
                      </a:pPr>
                      <a:r>
                        <a:t>3 家</a:t>
                      </a:r>
                    </a:p>
                  </a:txBody>
                  <a:tcPr a:marL="73152" a:marR="73152" a:marT="36576" a:marB="36576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33344"/>
                          </a:solidFill>
                          <a:latin typeface="Microsoft YaHei"/>
                        </a:defRPr>
                      </a:pPr>
                      <a:r>
                        <a:t>团队规模</a:t>
                      </a:r>
                    </a:p>
                  </a:txBody>
                  <a:tcPr a:marL="73152" a:marR="73152" a:marT="36576" a:marB="36576">
                    <a:solidFill>
                      <a:srgbClr val="FAFA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33344"/>
                          </a:solidFill>
                          <a:latin typeface="Microsoft YaHei"/>
                        </a:defRPr>
                      </a:pPr>
                      <a:r>
                        <a:t>5-8 人</a:t>
                      </a:r>
                    </a:p>
                  </a:txBody>
                  <a:tcPr a:marL="73152" a:marR="73152" a:marT="36576" a:marB="36576">
                    <a:solidFill>
                      <a:srgbClr val="FAFA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33344"/>
                          </a:solidFill>
                          <a:latin typeface="Microsoft YaHei"/>
                        </a:defRPr>
                      </a:pPr>
                      <a:r>
                        <a:t>10-15 人</a:t>
                      </a:r>
                    </a:p>
                  </a:txBody>
                  <a:tcPr a:marL="73152" a:marR="73152" a:marT="36576" a:marB="36576">
                    <a:solidFill>
                      <a:srgbClr val="FAFA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33344"/>
                          </a:solidFill>
                          <a:latin typeface="Microsoft YaHei"/>
                        </a:defRPr>
                      </a:pPr>
                      <a:r>
                        <a:t>20-30 人</a:t>
                      </a:r>
                    </a:p>
                  </a:txBody>
                  <a:tcPr a:marL="73152" a:marR="73152" a:marT="36576" a:marB="36576">
                    <a:solidFill>
                      <a:srgbClr val="FAFAFF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640080" y="5660136"/>
            <a:ext cx="10881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333344"/>
                </a:solidFill>
                <a:latin typeface="Microsoft YaHei"/>
              </a:defRPr>
            </a:pPr>
            <a:r>
              <a:t>企业客户从 3 到 50 靠试用转付费的自然转化 + 口碑。C 端从 5,000 到 500,000 靠 OEM 预装 + 手机端增量。MCP 技能从 50 到 1,000 是开源社区的自然增长。第一家 OEM 最难——第二第三家用的是第一家的信任背书。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934455"/>
            <a:ext cx="10881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333344"/>
                </a:solidFill>
                <a:latin typeface="Microsoft YaHei"/>
              </a:defRPr>
            </a:pPr>
            <a:r>
              <a:t>---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830568"/>
            <a:ext cx="12191695" cy="2743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01028"/>
                </a:solidFill>
                <a:latin typeface="Microsoft YaHei"/>
              </a:defRPr>
            </a:pPr>
            <a:r>
              <a:t>需要的支持与下一步行动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60120"/>
            <a:ext cx="2743200" cy="2286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787890"/>
                </a:solidFill>
                <a:latin typeface="Microsoft YaHei"/>
              </a:defRPr>
            </a:pPr>
            <a:r>
              <a:t>9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307592"/>
            <a:ext cx="54864" cy="25603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1" y="1234440"/>
            <a:ext cx="10881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4F46E5"/>
                </a:solidFill>
                <a:latin typeface="Microsoft YaHei"/>
              </a:defRPr>
            </a:pPr>
            <a:r>
              <a:t>我们需要的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618488"/>
            <a:ext cx="10881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333344"/>
                </a:solidFill>
                <a:latin typeface="Microsoft YaHei"/>
              </a:defRPr>
            </a:pPr>
            <a:r>
              <a:t>**企业试点** — 3 家有真实需求的团队，免费部署、免费支持，换真实反馈。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892807"/>
            <a:ext cx="10881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333344"/>
                </a:solidFill>
                <a:latin typeface="Microsoft YaHei"/>
              </a:defRPr>
            </a:pPr>
            <a:r>
              <a:t>**OEM 敲门砖** — 联想/华为/Dell/荣耀消费线的决策人引荐。不需要你替我们谈，只需要一次见面的机会。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167127"/>
            <a:ext cx="10881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333344"/>
                </a:solidFill>
                <a:latin typeface="Microsoft YaHei"/>
              </a:defRPr>
            </a:pPr>
            <a:r>
              <a:t>**硬件合作伙伴** — 智能家居、AR/VR/穿戴厂商。联名研发——你的硬件 + Lumi 人格引擎 = 新产品品类。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441447"/>
            <a:ext cx="10881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333344"/>
                </a:solidFill>
                <a:latin typeface="Microsoft YaHei"/>
              </a:defRPr>
            </a:pPr>
            <a:r>
              <a:t>**种子用户** — 10,000 个愿意跟 AI 一起成长的人。不是"测试用户"，是 Lumi 人格孵化中不可或缺的共同创造者。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2788919"/>
            <a:ext cx="54864" cy="25603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1" y="2715767"/>
            <a:ext cx="10881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4F46E5"/>
                </a:solidFill>
                <a:latin typeface="Microsoft YaHei"/>
              </a:defRPr>
            </a:pPr>
            <a:r>
              <a:t>立即启动</a:t>
            </a:r>
          </a:p>
        </p:txBody>
      </p:sp>
      <p:sp>
        <p:nvSpPr>
          <p:cNvPr id="14" name="Oval 13"/>
          <p:cNvSpPr/>
          <p:nvPr/>
        </p:nvSpPr>
        <p:spPr>
          <a:xfrm>
            <a:off x="685800" y="3172967"/>
            <a:ext cx="91440" cy="91440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099815"/>
            <a:ext cx="10332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333344"/>
                </a:solidFill>
                <a:latin typeface="Microsoft YaHei"/>
              </a:defRPr>
            </a:pPr>
            <a:r>
              <a:t>中心服务器 Docker 化 + 手机伴侣 React Native MVP</a:t>
            </a:r>
          </a:p>
        </p:txBody>
      </p:sp>
      <p:sp>
        <p:nvSpPr>
          <p:cNvPr id="16" name="Oval 15"/>
          <p:cNvSpPr/>
          <p:nvPr/>
        </p:nvSpPr>
        <p:spPr>
          <a:xfrm>
            <a:off x="685800" y="3410711"/>
            <a:ext cx="91440" cy="91440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337559"/>
            <a:ext cx="10332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333344"/>
                </a:solidFill>
                <a:latin typeface="Microsoft YaHei"/>
              </a:defRPr>
            </a:pPr>
            <a:r>
              <a:t>OEM 静默安装包 + 飞书 MCP 插件上线</a:t>
            </a:r>
          </a:p>
        </p:txBody>
      </p:sp>
      <p:sp>
        <p:nvSpPr>
          <p:cNvPr id="18" name="Oval 17"/>
          <p:cNvSpPr/>
          <p:nvPr/>
        </p:nvSpPr>
        <p:spPr>
          <a:xfrm>
            <a:off x="685800" y="3648455"/>
            <a:ext cx="91440" cy="91440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3575303"/>
            <a:ext cx="10332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333344"/>
                </a:solidFill>
                <a:latin typeface="Microsoft YaHei"/>
              </a:defRPr>
            </a:pPr>
            <a:r>
              <a:t>30 天内：3 家企业试点意向 + 1 家 OEM 正式接触 + 50 个社区开发者</a:t>
            </a:r>
          </a:p>
        </p:txBody>
      </p:sp>
      <p:sp>
        <p:nvSpPr>
          <p:cNvPr id="20" name="Oval 19"/>
          <p:cNvSpPr/>
          <p:nvPr/>
        </p:nvSpPr>
        <p:spPr>
          <a:xfrm>
            <a:off x="685800" y="3886199"/>
            <a:ext cx="91440" cy="91440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3813047"/>
            <a:ext cx="10332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333344"/>
                </a:solidFill>
                <a:latin typeface="Microsoft YaHei"/>
              </a:defRPr>
            </a:pPr>
            <a:r>
              <a:t>90 天内：手机 MVP 上架 App Store + 5 家企业 30 天试跑评估 + 5,000 日活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4178807"/>
            <a:ext cx="54864" cy="25603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1" y="4105655"/>
            <a:ext cx="10881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4F46E5"/>
                </a:solidFill>
                <a:latin typeface="Microsoft YaHei"/>
              </a:defRPr>
            </a:pPr>
            <a:r>
              <a:t>然后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4489703"/>
            <a:ext cx="10881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333344"/>
                </a:solidFill>
                <a:latin typeface="Microsoft YaHei"/>
              </a:defRPr>
            </a:pPr>
            <a:r>
              <a:t>用户破 10 万 → MCP 技能市场开放。用户破 50 万 → 硬件生态全面启动。用户破 100 万 → Lumi 不再是一个软件，是一个物种。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4764023"/>
            <a:ext cx="10881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333344"/>
                </a:solidFill>
                <a:latin typeface="Microsoft YaHei"/>
              </a:defRPr>
            </a:pPr>
            <a:r>
              <a:t>联系：毛先生 | lumiai.asia | 3565286431@qq.com | 微信：Cap_William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5038343"/>
            <a:ext cx="10881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333344"/>
                </a:solidFill>
                <a:latin typeface="Microsoft YaHei"/>
              </a:defRPr>
            </a:pPr>
            <a:r>
              <a:t>---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5312663"/>
            <a:ext cx="10881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333344"/>
                </a:solidFill>
                <a:latin typeface="Microsoft YaHei"/>
              </a:defRPr>
            </a:pPr>
            <a:r>
              <a:t>## 附录 · 关于我们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5586983"/>
            <a:ext cx="10881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333344"/>
                </a:solidFill>
                <a:latin typeface="Microsoft YaHei"/>
              </a:defRPr>
            </a:pPr>
            <a:r>
              <a:t>浙江灵序科技有限公司 · Personal AI 生态平台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5861303"/>
            <a:ext cx="10881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333344"/>
                </a:solidFill>
                <a:latin typeface="Microsoft YaHei"/>
              </a:defRPr>
            </a:pPr>
            <a:r>
              <a:t>产品线：LumiOS / Lumi One 全息仓 / 智能台灯 / 桌面机器人 / AI 陪伴玩具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6135623"/>
            <a:ext cx="10881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333344"/>
                </a:solidFill>
                <a:latin typeface="Microsoft YaHei"/>
              </a:defRPr>
            </a:pPr>
            <a:r>
              <a:t>未来技术：空气成像交互 · 智能穿戴生态 · 人车家跨终端 · 灵息先人灵体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830568"/>
            <a:ext cx="12191695" cy="2743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